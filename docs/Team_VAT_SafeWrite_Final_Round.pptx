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12"/>
    <p:sldId id="264" r:id="rId15"/>
    <p:sldId id="263" r:id="rId14"/>
    <p:sldId id="262" r:id="rId13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9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23232"/>
                </a:solidFill>
                <a:latin typeface="Aptos"/>
              </a:rPr>
              <a:t>Recovery time vs. pending commits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wal: replay the log</c:v>
                </c:pt>
              </c:strCache>
            </c:strRef>
          </c:tx>
          <c:spPr>
            <a:ln w="31750">
              <a:solidFill>
                <a:srgbClr val="9E9E9E"/>
              </a:solidFill>
            </a:ln>
          </c:spPr>
          <c:marker>
            <c:spPr>
              <a:solidFill>
                <a:srgbClr val="9E9E9E"/>
              </a:solidFill>
              <a:ln>
                <a:solidFill>
                  <a:srgbClr val="9E9E9E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100</c:v>
                </c:pt>
                <c:pt idx="1">
                  <c:v>1,000</c:v>
                </c:pt>
                <c:pt idx="2">
                  <c:v>5,000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22.5</c:v>
                </c:pt>
                <c:pt idx="1">
                  <c:v>36.1</c:v>
                </c:pt>
                <c:pt idx="2">
                  <c:v>76.9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cow: pick a superblock</c:v>
                </c:pt>
              </c:strCache>
            </c:strRef>
          </c:tx>
          <c:spPr>
            <a:ln w="31750">
              <a:solidFill>
                <a:srgbClr val="F7941D"/>
              </a:solidFill>
            </a:ln>
          </c:spPr>
          <c:marker>
            <c:spPr>
              <a:solidFill>
                <a:srgbClr val="F7941D"/>
              </a:solidFill>
              <a:ln>
                <a:solidFill>
                  <a:srgbClr val="F7941D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100</c:v>
                </c:pt>
                <c:pt idx="1">
                  <c:v>1,000</c:v>
                </c:pt>
                <c:pt idx="2">
                  <c:v>5,000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1.06</c:v>
                </c:pt>
                <c:pt idx="1">
                  <c:v>0.98</c:v>
                </c:pt>
                <c:pt idx="2">
                  <c:v>1.18</c:v>
                </c:pt>
              </c:numCache>
            </c:numRef>
          </c:val>
          <c:smooth val="0"/>
        </c:ser>
        <c:dLbls>
          <c:numFmt formatCode="0.0&quot; ms&quot;" sourceLinked="0"/>
          <c:txPr>
            <a:bodyPr/>
            <a:lstStyle/>
            <a:p>
              <a:pPr>
                <a:defRPr sz="10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/>
                  <a:t>commits not yet checkpointed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7E7E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E6E6E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23232"/>
                </a:solidFill>
                <a:latin typeface="Aptos"/>
              </a:rPr>
              <a:t>fsync barriers per commit (lower is faster)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fsyncs per commit</c:v>
                </c:pt>
              </c:strCache>
            </c:strRef>
          </c:tx>
          <c:dPt>
            <c:idx val="0"/>
            <c:spPr>
              <a:solidFill>
                <a:srgbClr val="BDBDBD"/>
              </a:solidFill>
            </c:spPr>
          </c:dPt>
          <c:dPt>
            <c:idx val="1"/>
            <c:spPr>
              <a:solidFill>
                <a:srgbClr val="BDBDBD"/>
              </a:solidFill>
            </c:spPr>
          </c:dPt>
          <c:dPt>
            <c:idx val="2"/>
            <c:spPr>
              <a:solidFill>
                <a:srgbClr val="F7941D"/>
              </a:solidFill>
            </c:spPr>
          </c:dPt>
          <c:dPt>
            <c:idx val="3"/>
            <c:spPr>
              <a:solidFill>
                <a:srgbClr val="BDBDBD"/>
              </a:solidFill>
            </c:spPr>
          </c:dPt>
          <c:cat>
            <c:strRef>
              <c:f>Sheet1!$A$2:$A$5</c:f>
              <c:strCache>
                <c:ptCount val="4"/>
                <c:pt idx="0">
                  <c:v>undo</c:v>
                </c:pt>
                <c:pt idx="1">
                  <c:v>shadow</c:v>
                </c:pt>
                <c:pt idx="2">
                  <c:v>cow</c:v>
                </c:pt>
                <c:pt idx="3">
                  <c:v>wal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3.08</c:v>
                </c:pt>
                <c:pt idx="1">
                  <c:v>2.0</c:v>
                </c:pt>
                <c:pt idx="2">
                  <c:v>2.0</c:v>
                </c:pt>
                <c:pt idx="3">
                  <c:v>1.26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DBDBD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E6E6E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8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9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OPS  •  FINAL ROUND  •  TEAM VAT  •  SAFEWRITE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-1143000"/>
            <a:ext cx="3977640" cy="3977640"/>
          </a:xfrm>
          <a:prstGeom prst="ellipse">
            <a:avLst/>
          </a:prstGeom>
          <a:solidFill>
            <a:srgbClr val="FDC44E">
              <a:alpha val="94000"/>
            </a:srgbClr>
          </a:solidFill>
          <a:ln w="12700">
            <a:solidFill>
              <a:srgbClr val="FDC4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-411480"/>
            <a:ext cx="2514600" cy="2514600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228600"/>
            <a:ext cx="1234440" cy="1234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1323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kern="0" spc="110" dirty="0">
                <a:solidFill>
                  <a:srgbClr val="F794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 OPS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13350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Operating System Hackathon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859536" y="2660904"/>
            <a:ext cx="73152" cy="2459736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5176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DETAILS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441655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Name:  VAT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Members: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Tanush Keshri – RA2511003011609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Vyom Singh – RA2511003011619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Abhishek Kumar Maurya – RA2511003011623 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Theme:</a:t>
            </a:r>
          </a:p>
          <a:p>
            <a:r>
              <a:rPr lang="en-IN" sz="1150" dirty="0" err="1"/>
              <a:t>SafeWrite</a:t>
            </a:r>
            <a:r>
              <a:rPr lang="en-IN" sz="1150" dirty="0"/>
              <a:t>: crash-consistent storage, proven not promised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53328" y="2450592"/>
            <a:ext cx="5468112" cy="2880360"/>
          </a:xfrm>
          <a:prstGeom prst="roundRect">
            <a:avLst>
              <a:gd name="adj" fmla="val 190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660904"/>
            <a:ext cx="73152" cy="245973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5176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4809744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 Number</a:t>
            </a:r>
            <a:r>
              <a:rPr lang="en-US" sz="1150" dirty="0">
                <a:solidFill>
                  <a:srgbClr val="6E6E6E"/>
                </a:solidFill>
                <a:ea typeface="Aptos" pitchFamily="34" charset="-122"/>
                <a:cs typeface="Aptos" pitchFamily="34" charset="-120"/>
              </a:rPr>
              <a:t>:  </a:t>
            </a:r>
            <a:r>
              <a:rPr lang="en-IN" sz="1100" dirty="0"/>
              <a:t>The prototype must demonstrate failure during a write and recover to either the previous valid version or the new valid version, not a corrupted mixture. Teams may use temporary files, logging, copy-on-write or journaling-inspired techniques and must justify the chosen approach.</a:t>
            </a:r>
            <a:r>
              <a:rPr lang="en-US" sz="1100" dirty="0">
                <a:solidFill>
                  <a:srgbClr val="6E6E6E"/>
                </a:solidFill>
                <a:ea typeface="Aptos" pitchFamily="34" charset="-122"/>
                <a:cs typeface="Apto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Title: </a:t>
            </a:r>
          </a:p>
          <a:p>
            <a:pPr algn="ctr"/>
            <a:r>
              <a:rPr lang="en-US" sz="1150" dirty="0">
                <a:solidFill>
                  <a:srgbClr val="6E6E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“  </a:t>
            </a:r>
            <a:r>
              <a:rPr lang="en-IN" sz="1150" dirty="0">
                <a:latin typeface="Aptos" panose="020B0004020202020204" pitchFamily="34" charset="0"/>
              </a:rPr>
              <a:t>Crash-Consistent Document Storage “</a:t>
            </a:r>
          </a:p>
          <a:p>
            <a:pPr marL="0" indent="0">
              <a:buNone/>
            </a:pPr>
            <a:endParaRPr lang="en-US" sz="1150" dirty="0">
              <a:solidFill>
                <a:srgbClr val="6E6E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508760"/>
            <a:ext cx="3566160" cy="2768991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713232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099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10312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3C3C3C"/>
                </a:solidFill>
                <a:latin typeface="Aptos"/>
              </a:rPr>
              <a:t>A crash-consistent document store with one API and four interchangeable recovery engines: temp file + rename, undo journal, redo write-ahead log and copy-on-write.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3C3C3C"/>
                </a:solidFill>
                <a:latin typeface="Aptos"/>
              </a:rPr>
              <a:t>A power-loss simulator proves that every crash recovers the previous or the new version, never a mixture.</a:t>
            </a:r>
          </a:p>
        </p:txBody>
      </p:sp>
      <p:sp>
        <p:nvSpPr>
          <p:cNvPr id="12" name="Shape 10"/>
          <p:cNvSpPr/>
          <p:nvPr/>
        </p:nvSpPr>
        <p:spPr>
          <a:xfrm>
            <a:off x="4315968" y="1508760"/>
            <a:ext cx="3566160" cy="276899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7136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099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Applications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that save documents, records and configs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Developers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choosing a crash-safety technique, with data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Students and educators: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a visual lab for file-system crash semantics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Runs on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Linux, macOS, Windows; Python standard library only</a:t>
            </a:r>
          </a:p>
        </p:txBody>
      </p:sp>
      <p:sp>
        <p:nvSpPr>
          <p:cNvPr id="16" name="Shape 14"/>
          <p:cNvSpPr/>
          <p:nvPr/>
        </p:nvSpPr>
        <p:spPr>
          <a:xfrm>
            <a:off x="8119872" y="1508760"/>
            <a:ext cx="3566160" cy="2768990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8321040" y="1720949"/>
            <a:ext cx="73152" cy="2391038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7099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70976" y="2103120"/>
            <a:ext cx="2907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Atomic, durable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put, delete and multi-document transactions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Recovery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on every open: idempotent, crash-safe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Version history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and lock-free readers (COW)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Crash Lab: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pull the plug at any syscall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Proof: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exhaustive explorer, ablations, real kill -9</a:t>
            </a:r>
          </a:p>
        </p:txBody>
      </p:sp>
      <p:sp>
        <p:nvSpPr>
          <p:cNvPr id="20" name="Shape 18"/>
          <p:cNvSpPr/>
          <p:nvPr/>
        </p:nvSpPr>
        <p:spPr>
          <a:xfrm>
            <a:off x="273150" y="4476220"/>
            <a:ext cx="11173968" cy="1484141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882" y="465640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982899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23232"/>
                </a:solidFill>
                <a:latin typeface="Aptos"/>
              </a:rPr>
              <a:t xml:space="preserve">Every crash recovers the previous or the new version. </a:t>
            </a:r>
            <a:r>
              <a:rPr lang="en-US" sz="1400" b="0" dirty="0">
                <a:solidFill>
                  <a:srgbClr val="3C3C3C"/>
                </a:solidFill>
                <a:latin typeface="Aptos"/>
              </a:rPr>
              <a:t>Proven across 63,673 simulated power-loss states and real kill -9 crashes, with every removed safeguard caught.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481328"/>
            <a:ext cx="11173968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645920"/>
            <a:ext cx="9326880" cy="40027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35608" y="574243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Design rule: </a:t>
            </a:r>
            <a:r>
              <a:rPr lang="en-US" sz="1100" b="0" dirty="0">
                <a:solidFill>
                  <a:srgbClr val="6E6E6E"/>
                </a:solidFill>
                <a:latin typeface="Aptos"/>
              </a:rPr>
              <a:t>engines never call os.* directly. The same engine code runs on the real disk, is traced, crash-injected, and replayed against simulated post-crash disks.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Concepts &amp; Justification (1/2)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1 · FILE SYSTEMS</a:t>
            </a:r>
          </a:p>
        </p:txBody>
      </p:sp>
      <p:sp>
        <p:nvSpPr>
          <p:cNvPr id="11" name="Text 9"/>
          <p:cNvSpPr/>
          <p:nvPr/>
        </p:nvSpPr>
        <p:spPr>
          <a:xfrm>
            <a:off x="950976" y="244144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OsVFS (real pwrite / fsync / rename / dir fsync), inode-level crash model, COW volume with superblocks, allocator and GC.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Names are not inodes: fsync(file) persists data, fsync(dir) persists the name. That is the classic “rename landed, data didn’t” bug.</a:t>
            </a:r>
          </a:p>
        </p:txBody>
      </p:sp>
      <p:sp>
        <p:nvSpPr>
          <p:cNvPr id="12" name="Shape 10"/>
          <p:cNvSpPr/>
          <p:nvPr/>
        </p:nvSpPr>
        <p:spPr>
          <a:xfrm>
            <a:off x="6144768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2 · ATOMICITY</a:t>
            </a:r>
          </a:p>
        </p:txBody>
      </p:sp>
      <p:sp>
        <p:nvSpPr>
          <p:cNvPr id="15" name="Text 13"/>
          <p:cNvSpPr/>
          <p:nvPr/>
        </p:nvSpPr>
        <p:spPr>
          <a:xfrm>
            <a:off x="6583680" y="244144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One commit point per engine: rename · journal deactivation · CRC’d COMMIT record · superblock flip.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Before it: previous version; after it: new version. 0 violations in 10,744 crash states.</a:t>
            </a:r>
          </a:p>
        </p:txBody>
      </p:sp>
      <p:sp>
        <p:nvSpPr>
          <p:cNvPr id="16" name="Shape 14"/>
          <p:cNvSpPr/>
          <p:nvPr/>
        </p:nvSpPr>
        <p:spPr>
          <a:xfrm>
            <a:off x="512064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3 · SYNCHRONIZATION</a:t>
            </a:r>
          </a:p>
        </p:txBody>
      </p:sp>
      <p:sp>
        <p:nvSpPr>
          <p:cNvPr id="19" name="Text 17"/>
          <p:cNvSpPr/>
          <p:nvPr/>
        </p:nvSpPr>
        <p:spPr>
          <a:xfrm>
            <a:off x="950976" y="454456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flock process lock · transaction lock · WAL group commit (condition variable) · MVCC snapshot pins · fsync barriers.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Lost-update race: 50/400 without, 400/400 with. 16 threads share ~1 fsync per 6.9 commits.</a:t>
            </a:r>
          </a:p>
        </p:txBody>
      </p:sp>
      <p:sp>
        <p:nvSpPr>
          <p:cNvPr id="20" name="Shape 18"/>
          <p:cNvSpPr/>
          <p:nvPr/>
        </p:nvSpPr>
        <p:spPr>
          <a:xfrm>
            <a:off x="6144768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4 · CRASH RECOVERY</a:t>
            </a:r>
          </a:p>
        </p:txBody>
      </p:sp>
      <p:sp>
        <p:nvSpPr>
          <p:cNvPr id="23" name="Text 21"/>
          <p:cNvSpPr/>
          <p:nvPr/>
        </p:nvSpPr>
        <p:spPr>
          <a:xfrm>
            <a:off x="6583680" y="454456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Engine.recover() on every open: delete temps · roll back · redo · pick a superblock.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Idempotent and crash-safe: 19,318 crashes injected into recovery itself, 0 violations.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Concepts &amp; Justification (2/2)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5 · COPY-ON-WRITE</a:t>
            </a:r>
          </a:p>
        </p:txBody>
      </p:sp>
      <p:sp>
        <p:nvSpPr>
          <p:cNvPr id="11" name="Text 9"/>
          <p:cNvSpPr/>
          <p:nvPr/>
        </p:nvSpPr>
        <p:spPr>
          <a:xfrm>
            <a:off x="950976" y="244144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cow engine: write new blocks and a new catalog elsewhere, barrier, flip one of two checksummed superblocks.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The old version is untouched until the flip. O(1) recovery (~1 ms flat), history for free, readers never block.</a:t>
            </a:r>
          </a:p>
        </p:txBody>
      </p:sp>
      <p:sp>
        <p:nvSpPr>
          <p:cNvPr id="12" name="Shape 10"/>
          <p:cNvSpPr/>
          <p:nvPr/>
        </p:nvSpPr>
        <p:spPr>
          <a:xfrm>
            <a:off x="6144768" y="187452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45936" y="208483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075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6 · UNDO JOURNALING</a:t>
            </a:r>
          </a:p>
        </p:txBody>
      </p:sp>
      <p:sp>
        <p:nvSpPr>
          <p:cNvPr id="15" name="Text 13"/>
          <p:cNvSpPr/>
          <p:nvPr/>
        </p:nvSpPr>
        <p:spPr>
          <a:xfrm>
            <a:off x="6583680" y="244144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undo engine: journal the OLD bytes, fsync, overwrite in place, then deactivate the journal.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An interrupted save rolls BACK: the previous valid version.</a:t>
            </a:r>
          </a:p>
        </p:txBody>
      </p:sp>
      <p:sp>
        <p:nvSpPr>
          <p:cNvPr id="16" name="Shape 14"/>
          <p:cNvSpPr/>
          <p:nvPr/>
        </p:nvSpPr>
        <p:spPr>
          <a:xfrm>
            <a:off x="512064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7 · REDO JOURNALING (WAL)</a:t>
            </a:r>
          </a:p>
        </p:txBody>
      </p:sp>
      <p:sp>
        <p:nvSpPr>
          <p:cNvPr id="19" name="Text 17"/>
          <p:cNvSpPr/>
          <p:nvPr/>
        </p:nvSpPr>
        <p:spPr>
          <a:xfrm>
            <a:off x="950976" y="454456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wal engine: log the NEW bytes plus a COMMIT record, one shared fsync, checkpoint to home files. CRC + LSN + salt.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A committed save rolls FORWARD: the new valid version, even if home files are torn.</a:t>
            </a:r>
          </a:p>
        </p:txBody>
      </p:sp>
      <p:sp>
        <p:nvSpPr>
          <p:cNvPr id="20" name="Shape 18"/>
          <p:cNvSpPr/>
          <p:nvPr/>
        </p:nvSpPr>
        <p:spPr>
          <a:xfrm>
            <a:off x="6144768" y="3977640"/>
            <a:ext cx="5138928" cy="175564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187952"/>
            <a:ext cx="73152" cy="133502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8 · CRASH MODEL</a:t>
            </a:r>
          </a:p>
        </p:txBody>
      </p:sp>
      <p:sp>
        <p:nvSpPr>
          <p:cNvPr id="23" name="Text 21"/>
          <p:cNvSpPr/>
          <p:nvPr/>
        </p:nvSpPr>
        <p:spPr>
          <a:xfrm>
            <a:off x="6583680" y="4544568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Where: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process (kill -9) · power (lost, reordered, torn writes) · paranoid (no sector atomicity).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E6E6E"/>
                </a:solidFill>
                <a:latin typeface="Aptos"/>
              </a:rPr>
              <a:t xml:space="preserve">Why: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Every missing-fsync bug passes kill -9 testing. Only the power-loss model catches it.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Proof: Every Crash State, Not Three Crash Points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6" name="Picture 25" descr="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517904"/>
            <a:ext cx="7772400" cy="3802970"/>
          </a:xfrm>
          <a:prstGeom prst="rect">
            <a:avLst/>
          </a:prstGeom>
          <a:ln w="12700">
            <a:solidFill>
              <a:srgbClr val="E7E7E7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12064" y="5468112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How: </a:t>
            </a:r>
            <a:r>
              <a:rPr lang="en-US" sz="1050" b="0" dirty="0">
                <a:solidFill>
                  <a:srgbClr val="6E6E6E"/>
                </a:solidFill>
                <a:latin typeface="Aptos"/>
              </a:rPr>
              <a:t>crash after every syscall → rebuild every disk the model allows → run the real recovery → check old-or-new, durability, idempotence.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Green </a:t>
            </a:r>
            <a:r>
              <a:rPr lang="en-US" sz="1050" b="0" dirty="0">
                <a:solidFill>
                  <a:srgbClr val="6E6E6E"/>
                </a:solidFill>
                <a:latin typeface="Aptos"/>
              </a:rPr>
              <a:t xml:space="preserve">all correct · </a:t>
            </a: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red </a:t>
            </a:r>
            <a:r>
              <a:rPr lang="en-US" sz="1050" b="0" dirty="0">
                <a:solidFill>
                  <a:srgbClr val="6E6E6E"/>
                </a:solidFill>
                <a:latin typeface="Aptos"/>
              </a:rPr>
              <a:t xml:space="preserve">one safeguard removed, counter-example found · </a:t>
            </a: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½ </a:t>
            </a:r>
            <a:r>
              <a:rPr lang="en-US" sz="1050" b="0" dirty="0">
                <a:solidFill>
                  <a:srgbClr val="6E6E6E"/>
                </a:solidFill>
                <a:latin typeface="Aptos"/>
              </a:rPr>
              <a:t>per-document limitation</a:t>
            </a:r>
          </a:p>
        </p:txBody>
      </p:sp>
      <p:sp>
        <p:nvSpPr>
          <p:cNvPr id="28" name="Shape 6"/>
          <p:cNvSpPr/>
          <p:nvPr/>
        </p:nvSpPr>
        <p:spPr>
          <a:xfrm>
            <a:off x="8503920" y="1481328"/>
            <a:ext cx="3182112" cy="148132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9" name="Shape 7"/>
          <p:cNvSpPr/>
          <p:nvPr/>
        </p:nvSpPr>
        <p:spPr>
          <a:xfrm>
            <a:off x="8705088" y="1691640"/>
            <a:ext cx="73152" cy="106070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0" name="Text 8"/>
          <p:cNvSpPr/>
          <p:nvPr/>
        </p:nvSpPr>
        <p:spPr>
          <a:xfrm>
            <a:off x="8942832" y="166420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>CRASH STATES EXPLORED</a:t>
            </a:r>
          </a:p>
        </p:txBody>
      </p:sp>
      <p:sp>
        <p:nvSpPr>
          <p:cNvPr id="31" name="Text 9"/>
          <p:cNvSpPr/>
          <p:nvPr/>
        </p:nvSpPr>
        <p:spPr>
          <a:xfrm>
            <a:off x="8942832" y="2048256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7941D"/>
                </a:solidFill>
                <a:latin typeface="Aptos"/>
              </a:rPr>
              <a:t>63,673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6E6E6E"/>
                </a:solidFill>
                <a:latin typeface="Aptos"/>
              </a:rPr>
              <a:t>3 models × 6 scenarios × 13 engine variants, in 25 s</a:t>
            </a:r>
          </a:p>
        </p:txBody>
      </p:sp>
      <p:sp>
        <p:nvSpPr>
          <p:cNvPr id="32" name="Shape 6"/>
          <p:cNvSpPr/>
          <p:nvPr/>
        </p:nvSpPr>
        <p:spPr>
          <a:xfrm>
            <a:off x="8503920" y="3108960"/>
            <a:ext cx="3182112" cy="148132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3" name="Shape 7"/>
          <p:cNvSpPr/>
          <p:nvPr/>
        </p:nvSpPr>
        <p:spPr>
          <a:xfrm>
            <a:off x="8705088" y="3319272"/>
            <a:ext cx="73152" cy="106070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4" name="Text 8"/>
          <p:cNvSpPr/>
          <p:nvPr/>
        </p:nvSpPr>
        <p:spPr>
          <a:xfrm>
            <a:off x="8942832" y="3291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>VIOLATIONS IN THE SAFE ENGINES</a:t>
            </a:r>
          </a:p>
        </p:txBody>
      </p:sp>
      <p:sp>
        <p:nvSpPr>
          <p:cNvPr id="35" name="Text 9"/>
          <p:cNvSpPr/>
          <p:nvPr/>
        </p:nvSpPr>
        <p:spPr>
          <a:xfrm>
            <a:off x="8942832" y="3675888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7941D"/>
                </a:solidFill>
                <a:latin typeface="Aptos"/>
              </a:rPr>
              <a:t>0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6E6E6E"/>
                </a:solidFill>
                <a:latin typeface="Aptos"/>
              </a:rPr>
              <a:t>shadow · undo · wal · cow, incl. crashes during recovery</a:t>
            </a:r>
          </a:p>
        </p:txBody>
      </p:sp>
      <p:sp>
        <p:nvSpPr>
          <p:cNvPr id="36" name="Shape 6"/>
          <p:cNvSpPr/>
          <p:nvPr/>
        </p:nvSpPr>
        <p:spPr>
          <a:xfrm>
            <a:off x="8503920" y="4736592"/>
            <a:ext cx="3182112" cy="148132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7" name="Shape 7"/>
          <p:cNvSpPr/>
          <p:nvPr/>
        </p:nvSpPr>
        <p:spPr>
          <a:xfrm>
            <a:off x="8705088" y="4946904"/>
            <a:ext cx="73152" cy="106070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8" name="Text 8"/>
          <p:cNvSpPr/>
          <p:nvPr/>
        </p:nvSpPr>
        <p:spPr>
          <a:xfrm>
            <a:off x="8942832" y="491947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>REMOVED SAFEGUARDS CAUGHT</a:t>
            </a:r>
          </a:p>
        </p:txBody>
      </p:sp>
      <p:sp>
        <p:nvSpPr>
          <p:cNvPr id="39" name="Text 9"/>
          <p:cNvSpPr/>
          <p:nvPr/>
        </p:nvSpPr>
        <p:spPr>
          <a:xfrm>
            <a:off x="8942832" y="5303520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7941D"/>
                </a:solidFill>
                <a:latin typeface="Aptos"/>
              </a:rPr>
              <a:t>9 / 9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6E6E6E"/>
                </a:solidFill>
                <a:latin typeface="Aptos"/>
              </a:rPr>
              <a:t>a checker that cannot catch bugs could not do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 the Plug: Corrupted Mixture vs. Recovery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Shape 6"/>
          <p:cNvSpPr/>
          <p:nvPr/>
        </p:nvSpPr>
        <p:spPr>
          <a:xfrm>
            <a:off x="512064" y="1481328"/>
            <a:ext cx="5486400" cy="4754880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7" name="Shape 7"/>
          <p:cNvSpPr/>
          <p:nvPr/>
        </p:nvSpPr>
        <p:spPr>
          <a:xfrm>
            <a:off x="713232" y="1691640"/>
            <a:ext cx="73152" cy="433425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8"/>
          <p:cNvSpPr/>
          <p:nvPr/>
        </p:nvSpPr>
        <p:spPr>
          <a:xfrm>
            <a:off x="950976" y="1664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BEFORE: NAIVE IN-PLACE SAVE</a:t>
            </a:r>
          </a:p>
        </p:txBody>
      </p:sp>
      <p:sp>
        <p:nvSpPr>
          <p:cNvPr id="29" name="Text 9"/>
          <p:cNvSpPr/>
          <p:nvPr/>
        </p:nvSpPr>
        <p:spPr>
          <a:xfrm>
            <a:off x="950976" y="2048256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6E6E6E"/>
                </a:solidFill>
                <a:latin typeface="Aptos"/>
              </a:rPr>
              <a:t>Power cut mid-save: part new, part old, still parses as CSV.</a:t>
            </a:r>
          </a:p>
        </p:txBody>
      </p:sp>
      <p:pic>
        <p:nvPicPr>
          <p:cNvPr id="30" name="Picture 29" descr="naive-verdic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395728"/>
            <a:ext cx="4846320" cy="307121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50976" y="5468112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Silent: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no error is raised; the quantities are just wrong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Real kill -9: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naive/trunc corrupts about half of all saves</a:t>
            </a:r>
          </a:p>
        </p:txBody>
      </p:sp>
      <p:sp>
        <p:nvSpPr>
          <p:cNvPr id="30" name="Shape 6"/>
          <p:cNvSpPr/>
          <p:nvPr/>
        </p:nvSpPr>
        <p:spPr>
          <a:xfrm>
            <a:off x="6199632" y="1481328"/>
            <a:ext cx="5486400" cy="4754880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1" name="Shape 7"/>
          <p:cNvSpPr/>
          <p:nvPr/>
        </p:nvSpPr>
        <p:spPr>
          <a:xfrm>
            <a:off x="6400800" y="1691640"/>
            <a:ext cx="73152" cy="433425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2" name="Text 8"/>
          <p:cNvSpPr/>
          <p:nvPr/>
        </p:nvSpPr>
        <p:spPr>
          <a:xfrm>
            <a:off x="6638544" y="1664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AFTER: SAFEWRITE COPY-ON-WRITE</a:t>
            </a:r>
          </a:p>
        </p:txBody>
      </p:sp>
      <p:sp>
        <p:nvSpPr>
          <p:cNvPr id="33" name="Text 9"/>
          <p:cNvSpPr/>
          <p:nvPr/>
        </p:nvSpPr>
        <p:spPr>
          <a:xfrm>
            <a:off x="6638544" y="2048256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0" dirty="0">
                <a:solidFill>
                  <a:srgbClr val="6E6E6E"/>
                </a:solidFill>
                <a:latin typeface="Aptos"/>
              </a:rPr>
              <a:t>Same save, power cut at the superblock write: the commit point.</a:t>
            </a:r>
          </a:p>
        </p:txBody>
      </p:sp>
      <p:pic>
        <p:nvPicPr>
          <p:cNvPr id="34" name="Picture 33" descr="cow-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395728"/>
            <a:ext cx="4846320" cy="1304208"/>
          </a:xfrm>
          <a:prstGeom prst="rect">
            <a:avLst/>
          </a:prstGeom>
        </p:spPr>
      </p:pic>
      <p:pic>
        <p:nvPicPr>
          <p:cNvPr id="35" name="Picture 34" descr="cow-ver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794760"/>
            <a:ext cx="4846320" cy="755848"/>
          </a:xfrm>
          <a:prstGeom prst="rect">
            <a:avLst/>
          </a:prstGeom>
        </p:spPr>
      </p:pic>
      <p:pic>
        <p:nvPicPr>
          <p:cNvPr id="36" name="Picture 35" descr="cow-recove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4599432"/>
            <a:ext cx="4846320" cy="7928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38544" y="5468112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Before the flip: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previous version; after it: new version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Real kill -9 on ext4: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0 corruptions in every safe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Trade-offs, Measured: Why Copy-on-Write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Shape 6"/>
          <p:cNvSpPr/>
          <p:nvPr/>
        </p:nvSpPr>
        <p:spPr>
          <a:xfrm>
            <a:off x="512064" y="1481328"/>
            <a:ext cx="5486400" cy="4754880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7" name="Shape 7"/>
          <p:cNvSpPr/>
          <p:nvPr/>
        </p:nvSpPr>
        <p:spPr>
          <a:xfrm>
            <a:off x="713232" y="1691640"/>
            <a:ext cx="73152" cy="433425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8"/>
          <p:cNvSpPr/>
          <p:nvPr/>
        </p:nvSpPr>
        <p:spPr>
          <a:xfrm>
            <a:off x="950976" y="16642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/>
            </a:r>
          </a:p>
        </p:txBody>
      </p:sp>
      <p:sp>
        <p:nvSpPr>
          <p:cNvPr id="29" name="Text 9"/>
          <p:cNvSpPr/>
          <p:nvPr/>
        </p:nvSpPr>
        <p:spPr>
          <a:xfrm>
            <a:off x="950976" y="2048256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/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914400" y="1645920"/>
          <a:ext cx="49377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199632" y="1481328"/>
          <a:ext cx="548640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Shape 6"/>
          <p:cNvSpPr/>
          <p:nvPr/>
        </p:nvSpPr>
        <p:spPr>
          <a:xfrm>
            <a:off x="6199632" y="3886200"/>
            <a:ext cx="5486400" cy="2350008"/>
          </a:xfrm>
          <a:prstGeom prst="roundRect">
            <a:avLst>
              <a:gd name="adj" fmla="val 3125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1" name="Shape 7"/>
          <p:cNvSpPr/>
          <p:nvPr/>
        </p:nvSpPr>
        <p:spPr>
          <a:xfrm>
            <a:off x="6400800" y="4096512"/>
            <a:ext cx="73152" cy="192938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2" name="Text 8"/>
          <p:cNvSpPr/>
          <p:nvPr/>
        </p:nvSpPr>
        <p:spPr>
          <a:xfrm>
            <a:off x="6638544" y="4069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23232"/>
                </a:solidFill>
                <a:latin typeface="Aptos"/>
              </a:rPr>
              <a:t>WHY COW IS THE DEFAULT</a:t>
            </a:r>
          </a:p>
        </p:txBody>
      </p:sp>
      <p:sp>
        <p:nvSpPr>
          <p:cNvPr id="33" name="Text 9"/>
          <p:cNvSpPr/>
          <p:nvPr/>
        </p:nvSpPr>
        <p:spPr>
          <a:xfrm>
            <a:off x="6638544" y="4453128"/>
            <a:ext cx="4846320" cy="1618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O(1) recovery: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flat ~1 ms, no replay, no rollback logic to get wrong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Free extras: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version history, lock-free MVCC readers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Cost: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2 fsyncs vs WAL’s ~1. For tiny high-rate writes WAL with group commit wins (one-word switch)</a:t>
            </a:r>
          </a:p>
          <a:p>
            <a:pPr marL="171450" indent="-171450">
              <a:spcAft>
                <a:spcPts val="4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100" b="1" dirty="0">
                <a:solidFill>
                  <a:srgbClr val="323232"/>
                </a:solidFill>
                <a:latin typeface="Aptos"/>
              </a:rPr>
              <a:t xml:space="preserve">Undo: </a:t>
            </a:r>
            <a:r>
              <a:rPr lang="en-US" sz="1100" b="0" dirty="0">
                <a:solidFill>
                  <a:srgbClr val="3C3C3C"/>
                </a:solidFill>
                <a:latin typeface="Aptos"/>
              </a:rPr>
              <a:t>3 fsyncs, writes every byte twice (2.19×)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384048"/>
            <a:ext cx="109728" cy="10972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384048"/>
            <a:ext cx="109728" cy="109728"/>
          </a:xfrm>
          <a:prstGeom prst="ellipse">
            <a:avLst/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FDE4BF"/>
          </a:solidFill>
          <a:ln w="12700">
            <a:solidFill>
              <a:srgbClr val="FDE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612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F79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" y="8961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32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&amp; Innovation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30352" y="1507353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17664"/>
            <a:ext cx="73152" cy="2209567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5 engines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behind one API: naive (baseline), shadow, undo, wal, cow</a:t>
            </a:r>
          </a:p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Crash simulator: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3 models × 6 scenarios × 13 variants</a:t>
            </a:r>
          </a:p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Crash Lab UI, CLI,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kill -9 torture, race demo, benchmarks</a:t>
            </a:r>
          </a:p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53 tests,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CI on Linux, macOS, Windows</a:t>
            </a:r>
          </a:p>
        </p:txBody>
      </p:sp>
      <p:sp>
        <p:nvSpPr>
          <p:cNvPr id="12" name="Shape 10"/>
          <p:cNvSpPr/>
          <p:nvPr/>
        </p:nvSpPr>
        <p:spPr>
          <a:xfrm>
            <a:off x="4349266" y="1499616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717664"/>
            <a:ext cx="73152" cy="2209567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402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Language: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Python 3.9+, standard library only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UI: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stdlib http.server + vanilla JS/SVG, works offline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OS APIs: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pwrite, fsync, F_FULLFSYNC, O_DIRECTORY dir fsync, rename, ftruncate, flock / msvcrt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Simulation: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own ALICE / CrashMonkey-style persistence model</a:t>
            </a:r>
          </a:p>
        </p:txBody>
      </p:sp>
      <p:sp>
        <p:nvSpPr>
          <p:cNvPr id="16" name="Shape 14"/>
          <p:cNvSpPr/>
          <p:nvPr/>
        </p:nvSpPr>
        <p:spPr>
          <a:xfrm>
            <a:off x="8119872" y="1507353"/>
            <a:ext cx="3584448" cy="2615184"/>
          </a:xfrm>
          <a:prstGeom prst="roundRect">
            <a:avLst>
              <a:gd name="adj" fmla="val 2791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717665"/>
            <a:ext cx="73152" cy="2209566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70852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58784" y="207428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Proof, not promise: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every post-crash disk at every syscall, recovered by the real code</a:t>
            </a:r>
          </a:p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Ablations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justify each safeguard with a counter-example</a:t>
            </a:r>
          </a:p>
          <a:p>
            <a:pPr marL="171450" indent="-171450">
              <a:spcAft>
                <a:spcPts val="300"/>
              </a:spcAft>
              <a:buClr>
                <a:srgbClr val="F7941D"/>
              </a:buClr>
              <a:buFont typeface="Arial"/>
              <a:buChar char="•"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Shows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kill -9 tests cannot find missing fsyncs</a:t>
            </a:r>
          </a:p>
        </p:txBody>
      </p:sp>
      <p:sp>
        <p:nvSpPr>
          <p:cNvPr id="20" name="Shape 18"/>
          <p:cNvSpPr/>
          <p:nvPr/>
        </p:nvSpPr>
        <p:spPr>
          <a:xfrm>
            <a:off x="530352" y="4323704"/>
            <a:ext cx="5486400" cy="1877803"/>
          </a:xfrm>
          <a:prstGeom prst="roundRect">
            <a:avLst>
              <a:gd name="adj" fmla="val 4054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34017"/>
            <a:ext cx="73152" cy="1526814"/>
          </a:xfrm>
          <a:prstGeom prst="roundRect">
            <a:avLst>
              <a:gd name="adj" fmla="val 50000"/>
            </a:avLst>
          </a:prstGeom>
          <a:solidFill>
            <a:srgbClr val="FDC44E"/>
          </a:solidFill>
          <a:ln w="12700">
            <a:solidFill>
              <a:srgbClr val="FDC4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524873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CONSIDERED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892040"/>
            <a:ext cx="4864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Overwrite in place: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mixture (naive)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Temp + rename: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not atomic across documents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Undo journal: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3 fsyncs, 2.19× writes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Redo WAL: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fastest commit; recovery grows with the log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7941D"/>
                </a:solidFill>
                <a:latin typeface="Aptos"/>
              </a:rPr>
              <a:t xml:space="preserve">Chosen: copy-on-write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(all four are built and measured)</a:t>
            </a:r>
          </a:p>
        </p:txBody>
      </p:sp>
      <p:sp>
        <p:nvSpPr>
          <p:cNvPr id="24" name="Shape 22"/>
          <p:cNvSpPr/>
          <p:nvPr/>
        </p:nvSpPr>
        <p:spPr>
          <a:xfrm>
            <a:off x="6236208" y="4323704"/>
            <a:ext cx="5468112" cy="1900077"/>
          </a:xfrm>
          <a:prstGeom prst="roundRect">
            <a:avLst>
              <a:gd name="adj" fmla="val 4054"/>
            </a:avLst>
          </a:prstGeom>
          <a:solidFill>
            <a:srgbClr val="F4F4F4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4534017"/>
            <a:ext cx="73152" cy="1526814"/>
          </a:xfrm>
          <a:prstGeom prst="roundRect">
            <a:avLst>
              <a:gd name="adj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0736" y="452628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232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/ LIMITATIONS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892040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Assumes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the drive honours flush; journaled metadata (ext4, XFS, NTFS, APFS)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One writer process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(flock), many threads; COW catalog suits thousands of docs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23232"/>
                </a:solidFill>
                <a:latin typeface="Aptos"/>
              </a:rPr>
              <a:t xml:space="preserve">Future: </a:t>
            </a:r>
            <a:r>
              <a:rPr lang="en-US" sz="1050" b="0" dirty="0">
                <a:solidFill>
                  <a:srgbClr val="3C3C3C"/>
                </a:solidFill>
                <a:latin typeface="Aptos"/>
              </a:rPr>
              <a:t>dm-log-writes block replay, COW B+-tree, COW + WAL hybrid</a:t>
            </a: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792</Words>
  <Application>Microsoft Office PowerPoint</Application>
  <PresentationFormat>Widescreen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Operating Systems Class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Ops: An Operating System Hackathon</dc:title>
  <dc:subject>Kernel Ops - Online Submission Template</dc:subject>
  <dc:creator>OpenAI</dc:creator>
  <cp:lastModifiedBy>Tanush Keshri</cp:lastModifiedBy>
  <cp:revision>17</cp:revision>
  <dcterms:created xsi:type="dcterms:W3CDTF">2026-09-22T12:30:42Z</dcterms:created>
  <dcterms:modified xsi:type="dcterms:W3CDTF">2026-10-11T07:32:54Z</dcterms:modified>
</cp:coreProperties>
</file>